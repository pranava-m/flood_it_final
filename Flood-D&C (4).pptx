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 Slab"/>
      <p:regular r:id="rId16"/>
      <p:bold r:id="rId17"/>
    </p:embeddedFon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lab-bold.fntdata"/><Relationship Id="rId16" Type="http://schemas.openxmlformats.org/officeDocument/2006/relationships/font" Target="fonts/RobotoSlab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.fntdata"/><Relationship Id="rId6" Type="http://schemas.openxmlformats.org/officeDocument/2006/relationships/slide" Target="slides/slide1.xml"/><Relationship Id="rId18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365507454_0_7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365507454_0_7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595c202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595c202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595c2024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595c2024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c595c2024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c595c2024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595c2024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595c2024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c595c20246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c595c20246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edb59ae8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edb59ae8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595c2024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595c2024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edb59ae8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edb59ae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/>
        </p:nvSpPr>
        <p:spPr>
          <a:xfrm>
            <a:off x="1967250" y="955725"/>
            <a:ext cx="57036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5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Flood - IT</a:t>
            </a:r>
            <a:endParaRPr b="1" sz="5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1949125" y="3336800"/>
            <a:ext cx="5250900" cy="9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“Where colors spread fast and smart choices matter more.”</a:t>
            </a:r>
            <a:endParaRPr sz="2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/>
        </p:nvSpPr>
        <p:spPr>
          <a:xfrm>
            <a:off x="428150" y="321975"/>
            <a:ext cx="7206600" cy="71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Main Goal and Rules to play.</a:t>
            </a:r>
            <a:endParaRPr b="1" sz="2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500575" y="1553250"/>
            <a:ext cx="5531700" cy="340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Aim:-</a:t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Your goal is to </a:t>
            </a:r>
            <a:r>
              <a:rPr b="1" lang="en-GB" sz="1300">
                <a:solidFill>
                  <a:schemeClr val="dk1"/>
                </a:solidFill>
              </a:rPr>
              <a:t>fill the entire board with a single color</a:t>
            </a:r>
            <a:r>
              <a:rPr lang="en-GB" sz="1300">
                <a:solidFill>
                  <a:schemeClr val="dk1"/>
                </a:solidFill>
              </a:rPr>
              <a:t> in the </a:t>
            </a:r>
            <a:r>
              <a:rPr b="1" lang="en-GB" sz="1300">
                <a:solidFill>
                  <a:schemeClr val="dk1"/>
                </a:solidFill>
              </a:rPr>
              <a:t>fewest possible moves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</a:rPr>
              <a:t>Rules to play:-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The game always starts from the </a:t>
            </a:r>
            <a:r>
              <a:rPr b="1" lang="en-GB" sz="1300">
                <a:solidFill>
                  <a:schemeClr val="dk1"/>
                </a:solidFill>
              </a:rPr>
              <a:t>top-left cell (0,0)</a:t>
            </a:r>
            <a:r>
              <a:rPr lang="en-GB" sz="1300">
                <a:solidFill>
                  <a:schemeClr val="dk1"/>
                </a:solidFill>
              </a:rPr>
              <a:t>. Every move changes the color of this starting region  spreads (floods) to all connected cells of the same color.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36525" y="3130350"/>
            <a:ext cx="1468775" cy="1479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36526" y="1349376"/>
            <a:ext cx="1393475" cy="139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/>
        </p:nvSpPr>
        <p:spPr>
          <a:xfrm>
            <a:off x="484175" y="222675"/>
            <a:ext cx="5286600" cy="8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What is Backtracking?</a:t>
            </a:r>
            <a:endParaRPr sz="35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559500" y="1382400"/>
            <a:ext cx="7372500" cy="35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Backtracking</a:t>
            </a:r>
            <a:r>
              <a:rPr lang="en-GB" sz="1100">
                <a:solidFill>
                  <a:schemeClr val="dk1"/>
                </a:solidFill>
              </a:rPr>
              <a:t> is an algorithmic technique used to solve problems by exploring possible solutions and abandoning paths that cannot lead to a valid solution.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Key Idea: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Choose a possible option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Explore further choices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 sz="1100">
                <a:solidFill>
                  <a:schemeClr val="dk1"/>
                </a:solidFill>
              </a:rPr>
              <a:t>If the solution becomes invalid or inefficient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 sz="1100">
                <a:solidFill>
                  <a:schemeClr val="dk1"/>
                </a:solidFill>
              </a:rPr>
              <a:t>Backtrack</a:t>
            </a:r>
            <a:r>
              <a:rPr lang="en-GB" sz="1100">
                <a:solidFill>
                  <a:schemeClr val="dk1"/>
                </a:solidFill>
              </a:rPr>
              <a:t> and try another option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Characteristics: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Uses </a:t>
            </a:r>
            <a:r>
              <a:rPr b="1" lang="en-GB" sz="1100">
                <a:solidFill>
                  <a:schemeClr val="dk1"/>
                </a:solidFill>
              </a:rPr>
              <a:t>Depth-First Search (DFS)</a:t>
            </a:r>
            <a:r>
              <a:rPr lang="en-GB" sz="1100">
                <a:solidFill>
                  <a:schemeClr val="dk1"/>
                </a:solidFill>
              </a:rPr>
              <a:t> strategy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Explores </a:t>
            </a:r>
            <a:r>
              <a:rPr b="1" lang="en-GB" sz="1100">
                <a:solidFill>
                  <a:schemeClr val="dk1"/>
                </a:solidFill>
              </a:rPr>
              <a:t>solution space step by step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Avoids unnecessary paths using pruning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 sz="1100">
                <a:solidFill>
                  <a:schemeClr val="dk1"/>
                </a:solidFill>
              </a:rPr>
              <a:t>Finds </a:t>
            </a:r>
            <a:r>
              <a:rPr b="1" lang="en-GB" sz="1100">
                <a:solidFill>
                  <a:schemeClr val="dk1"/>
                </a:solidFill>
              </a:rPr>
              <a:t>optimal or near-optimal solution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Backtracking in Flood-It Solver</a:t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In this project, Backtracking is used to </a:t>
            </a: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find the best next color move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Algorithm process: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Start from the current board state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Identify the possible colors that can expand the flooded region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Try each color as the next move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Simulate the result of choosing that color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Recursively explore future moves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Track the minimum number of moves needed to solve the board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Conditions: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Choose only the neighbouring color to expand the 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flood instead of exploring all solutions.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If the depth limit is more than 10 it stops computing.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If one path return a move count of 7 while other path return move count 6 then its chooses the minimum among them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8875" y="1752600"/>
            <a:ext cx="1638300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Depth-First Search Strategy</a:t>
            </a:r>
            <a:endParaRPr/>
          </a:p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The solver explores moves using a </a:t>
            </a: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Depth-First Search strategy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Search process: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Start with the current board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Try one possible color move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Move deeper by applying additional moves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Continue until: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The board is solved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○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Maximum search depth is reached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If a branch does not lead to a better solution, the algorithm </a:t>
            </a: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backtracks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and explores another color option.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This ensures the solver checks multiple possible strategies and selects the </a:t>
            </a: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best move sequence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is Dynamic Programming?</a:t>
            </a:r>
            <a:endParaRPr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Dynamic Programming (DP) is an algorithmic technique used to solve complex problems by </a:t>
            </a: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breaking them into smaller subproblems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Key Idea: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Solve each subproblem </a:t>
            </a: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only once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Store the result in memory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Reuse the stored result when needed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Benefits of Dynamic Programming: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Avoids repeated calculations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Reduces computational time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Improves efficiency of recursive algorithms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 Programming in Flood-It Solver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425550" y="137687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Goal : Find the minimum number of moves to make the entire grid into a single color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Identify The subproblem : After simulating the particular color then again finding the minimum  number of moves for the subproblem 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Guess part of the solution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Goal: Decide the next choice you will try for the subproblem.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In Flood-It: the “guess” is the next color you will flood the current area with.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You don’t try all colors blindly — only the ones that actually expand the flooded area (neighbor colors).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 Relate subproblems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Goal: Express the solution to the current subproblem in terms of smaller subproblems.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Flooding with a color gives a new board state.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The minimum moves for the current board = 1 (this move) + minimum moves for the new board: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137750" y="1401875"/>
            <a:ext cx="8482800" cy="27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 Recurse and solve the subproblem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You call solve(next) recursively for each possible move.</a:t>
            </a:r>
            <a:endParaRPr sz="11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Base case: when the board is already solved (all cells same color):</a:t>
            </a:r>
            <a:endParaRPr sz="1100"/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100"/>
              <a:t>Memoization</a:t>
            </a:r>
            <a:endParaRPr sz="1100"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100"/>
              <a:t>Goal: Store results of subproblems so you don’t recompute them.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4821" y="1500063"/>
            <a:ext cx="2087275" cy="2143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Memoization and Cache Storage</a:t>
            </a:r>
            <a:endParaRPr/>
          </a:p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Memoization is used to store previously solved board states.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In the program, a </a:t>
            </a: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HashMap cache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 is used: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Key → Encoded board state</a:t>
            </a:r>
            <a:br>
              <a:rPr lang="en-GB" sz="1300">
                <a:latin typeface="Arial"/>
                <a:ea typeface="Arial"/>
                <a:cs typeface="Arial"/>
                <a:sym typeface="Arial"/>
              </a:rPr>
            </a:br>
            <a:r>
              <a:rPr lang="en-GB" sz="1300">
                <a:latin typeface="Arial"/>
                <a:ea typeface="Arial"/>
                <a:cs typeface="Arial"/>
                <a:sym typeface="Arial"/>
              </a:rPr>
              <a:t>Value → Minimum number of moves required to solve it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Steps: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Convert the board into a unique encoded value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Check if the encoded state exists in the cache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If found, reuse the stored result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AutoNum type="arabicPeriod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If not, compute the result and store it in the cache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This prevents repeated calculations and makes the solver much faster.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3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Top-Down DP Instead of Bottom-Up in Flood-It Solver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229750" y="1256375"/>
            <a:ext cx="3763800" cy="346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1. Huge Number of Possible Board States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Flood-It board changes after every move.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Possible states grow exponentially.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Example:</a:t>
            </a:r>
            <a:br>
              <a:rPr lang="en-GB" sz="1300">
                <a:latin typeface="Arial"/>
                <a:ea typeface="Arial"/>
                <a:cs typeface="Arial"/>
                <a:sym typeface="Arial"/>
              </a:rPr>
            </a:br>
            <a:r>
              <a:rPr lang="en-GB" sz="1300">
                <a:latin typeface="Arial"/>
                <a:ea typeface="Arial"/>
                <a:cs typeface="Arial"/>
                <a:sym typeface="Arial"/>
              </a:rPr>
              <a:t> 6 × 6 board with 6 colors → </a:t>
            </a: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6³⁶ possible states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2. Bottom-Up DP is Impractical</a:t>
            </a:r>
            <a:endParaRPr b="1"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Bottom-Up must compute </a:t>
            </a: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all possible states first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Requires extremely large </a:t>
            </a:r>
            <a:r>
              <a:rPr b="1" lang="en-GB" sz="1300">
                <a:latin typeface="Arial"/>
                <a:ea typeface="Arial"/>
                <a:cs typeface="Arial"/>
                <a:sym typeface="Arial"/>
              </a:rPr>
              <a:t>time and memory</a:t>
            </a:r>
            <a:r>
              <a:rPr lang="en-GB" sz="1300">
                <a:latin typeface="Arial"/>
                <a:ea typeface="Arial"/>
                <a:cs typeface="Arial"/>
                <a:sym typeface="Arial"/>
              </a:rPr>
              <a:t>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en-GB" sz="1300">
                <a:latin typeface="Arial"/>
                <a:ea typeface="Arial"/>
                <a:cs typeface="Arial"/>
                <a:sym typeface="Arial"/>
              </a:rPr>
              <a:t>Not feasible for Flood-It.</a:t>
            </a:r>
            <a:endParaRPr sz="13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-GB" sz="1300">
                <a:latin typeface="Arial"/>
                <a:ea typeface="Arial"/>
                <a:cs typeface="Arial"/>
                <a:sym typeface="Arial"/>
              </a:rPr>
            </a:br>
            <a:endParaRPr sz="1300"/>
          </a:p>
        </p:txBody>
      </p:sp>
      <p:sp>
        <p:nvSpPr>
          <p:cNvPr id="122" name="Google Shape;122;p22"/>
          <p:cNvSpPr txBox="1"/>
          <p:nvPr/>
        </p:nvSpPr>
        <p:spPr>
          <a:xfrm>
            <a:off x="4671275" y="1256375"/>
            <a:ext cx="3840600" cy="353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3. Top-Down DP with Memoization is Efficient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Computes </a:t>
            </a:r>
            <a:r>
              <a:rPr b="1" lang="en-GB" sz="1300">
                <a:solidFill>
                  <a:schemeClr val="dk1"/>
                </a:solidFill>
              </a:rPr>
              <a:t>only the states that actually occur</a:t>
            </a:r>
            <a:r>
              <a:rPr lang="en-GB" sz="1300">
                <a:solidFill>
                  <a:schemeClr val="dk1"/>
                </a:solidFill>
              </a:rPr>
              <a:t> during solving.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Stores results in a </a:t>
            </a:r>
            <a:r>
              <a:rPr b="1" lang="en-GB" sz="1300">
                <a:solidFill>
                  <a:schemeClr val="dk1"/>
                </a:solidFill>
              </a:rPr>
              <a:t>DP cache (HashMap)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Avoids recomputing the same board state.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4. Fits the Recursive Nature of the Game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Each move creates a </a:t>
            </a:r>
            <a:r>
              <a:rPr b="1" lang="en-GB" sz="1300">
                <a:solidFill>
                  <a:schemeClr val="dk1"/>
                </a:solidFill>
              </a:rPr>
              <a:t>new board state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Recursively explore moves and store optimal results.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